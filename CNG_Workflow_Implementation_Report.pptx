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5836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DEEPNAP SOFTECH  ·  FOR JP MINDA GROUP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CNG Cylinder Process Tracking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84708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Implementation Report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2395728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C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every cylinder's 21-stage journey is captured, evaluated, stored and delivered — machine to dashboard.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291840"/>
            <a:ext cx="2542032" cy="1078992"/>
          </a:xfrm>
          <a:prstGeom prst="roundRect">
            <a:avLst>
              <a:gd name="adj" fmla="val 7627"/>
            </a:avLst>
          </a:prstGeom>
          <a:solidFill>
            <a:srgbClr val="2A3A7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3493008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07008" y="341985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41248" y="380390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C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· machines · operators push every stage event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328416" y="3291840"/>
            <a:ext cx="2542032" cy="1078992"/>
          </a:xfrm>
          <a:prstGeom prst="roundRect">
            <a:avLst>
              <a:gd name="adj" fmla="val 7627"/>
            </a:avLst>
          </a:prstGeom>
          <a:solidFill>
            <a:srgbClr val="2A3A7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9584" y="349300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95344" y="341985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529584" y="380390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C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reading checked against stage limits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016752" y="3291840"/>
            <a:ext cx="2542032" cy="1078992"/>
          </a:xfrm>
          <a:prstGeom prst="roundRect">
            <a:avLst>
              <a:gd name="adj" fmla="val 7627"/>
            </a:avLst>
          </a:prstGeom>
          <a:solidFill>
            <a:srgbClr val="2A3A7D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493008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583680" y="341985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217920" y="380390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C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dashboards, trace &amp; audit for every Pipe ID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640080" y="468172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·  digitization.jpmgroup.co.in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cylinder, 21 tracked stages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06070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manufacturing flow from your Process Flow document — every stage becomes a digital checkpoint.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481328"/>
            <a:ext cx="1147572" cy="566928"/>
          </a:xfrm>
          <a:prstGeom prst="roundRect">
            <a:avLst>
              <a:gd name="adj" fmla="val 8065"/>
            </a:avLst>
          </a:prstGeom>
          <a:solidFill>
            <a:srgbClr val="EFF4F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22476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1650492"/>
            <a:ext cx="10561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 Cutting</a:t>
            </a:r>
            <a:endParaRPr lang="en-US" sz="930" dirty="0"/>
          </a:p>
        </p:txBody>
      </p:sp>
      <p:sp>
        <p:nvSpPr>
          <p:cNvPr id="8" name="Shape 6"/>
          <p:cNvSpPr/>
          <p:nvPr/>
        </p:nvSpPr>
        <p:spPr>
          <a:xfrm>
            <a:off x="1691640" y="1481328"/>
            <a:ext cx="1147572" cy="566928"/>
          </a:xfrm>
          <a:prstGeom prst="roundRect">
            <a:avLst>
              <a:gd name="adj" fmla="val 8065"/>
            </a:avLst>
          </a:prstGeom>
          <a:solidFill>
            <a:srgbClr val="EFF4FC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0" y="1522476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737360" y="1650492"/>
            <a:ext cx="10561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Spinning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2880360" y="1481328"/>
            <a:ext cx="1147572" cy="566928"/>
          </a:xfrm>
          <a:prstGeom prst="roundRect">
            <a:avLst>
              <a:gd name="adj" fmla="val 8065"/>
            </a:avLst>
          </a:prstGeom>
          <a:solidFill>
            <a:srgbClr val="EFF4FC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0" y="1522476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926080" y="1650492"/>
            <a:ext cx="10561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Milling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4069080" y="1481328"/>
            <a:ext cx="1147572" cy="566928"/>
          </a:xfrm>
          <a:prstGeom prst="roundRect">
            <a:avLst>
              <a:gd name="adj" fmla="val 8065"/>
            </a:avLst>
          </a:prstGeom>
          <a:solidFill>
            <a:srgbClr val="EFF4FC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0" y="1522476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0" y="1650492"/>
            <a:ext cx="10561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Cyl. Sr. No. Marking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5257800" y="1481328"/>
            <a:ext cx="1147572" cy="566928"/>
          </a:xfrm>
          <a:prstGeom prst="roundRect">
            <a:avLst>
              <a:gd name="adj" fmla="val 8065"/>
            </a:avLst>
          </a:prstGeom>
          <a:solidFill>
            <a:srgbClr val="EFF4FC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0" y="1522476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303520" y="1650492"/>
            <a:ext cx="10561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Neck Spinning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6446520" y="1481328"/>
            <a:ext cx="1147572" cy="566928"/>
          </a:xfrm>
          <a:prstGeom prst="roundRect">
            <a:avLst>
              <a:gd name="adj" fmla="val 8065"/>
            </a:avLst>
          </a:prstGeom>
          <a:solidFill>
            <a:srgbClr val="D6E5F9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1522476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492240" y="1650492"/>
            <a:ext cx="10561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Treatment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7635240" y="1481328"/>
            <a:ext cx="1147572" cy="566928"/>
          </a:xfrm>
          <a:prstGeom prst="roundRect">
            <a:avLst>
              <a:gd name="adj" fmla="val 8065"/>
            </a:avLst>
          </a:prstGeom>
          <a:solidFill>
            <a:srgbClr val="D6E5F9"/>
          </a:solidFill>
          <a:ln/>
        </p:spPr>
      </p:sp>
      <p:sp>
        <p:nvSpPr>
          <p:cNvPr id="24" name="Text 22"/>
          <p:cNvSpPr/>
          <p:nvPr/>
        </p:nvSpPr>
        <p:spPr>
          <a:xfrm>
            <a:off x="7680960" y="1522476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680960" y="1650492"/>
            <a:ext cx="10561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Hardness Testing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502920" y="2176272"/>
            <a:ext cx="1147572" cy="566928"/>
          </a:xfrm>
          <a:prstGeom prst="roundRect">
            <a:avLst>
              <a:gd name="adj" fmla="val 8065"/>
            </a:avLst>
          </a:prstGeom>
          <a:solidFill>
            <a:srgbClr val="D6E5F9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221742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48640" y="2345436"/>
            <a:ext cx="10561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Neck Cutting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1691640" y="2176272"/>
            <a:ext cx="1147572" cy="566928"/>
          </a:xfrm>
          <a:prstGeom prst="roundRect">
            <a:avLst>
              <a:gd name="adj" fmla="val 8065"/>
            </a:avLst>
          </a:prstGeom>
          <a:solidFill>
            <a:srgbClr val="D6E5F9"/>
          </a:solidFill>
          <a:ln/>
        </p:spPr>
      </p:sp>
      <p:sp>
        <p:nvSpPr>
          <p:cNvPr id="30" name="Text 28"/>
          <p:cNvSpPr/>
          <p:nvPr/>
        </p:nvSpPr>
        <p:spPr>
          <a:xfrm>
            <a:off x="1737360" y="221742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737360" y="2345436"/>
            <a:ext cx="10561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Neck Machining</a:t>
            </a:r>
            <a:endParaRPr lang="en-US" sz="930" dirty="0"/>
          </a:p>
        </p:txBody>
      </p:sp>
      <p:sp>
        <p:nvSpPr>
          <p:cNvPr id="32" name="Shape 30"/>
          <p:cNvSpPr/>
          <p:nvPr/>
        </p:nvSpPr>
        <p:spPr>
          <a:xfrm>
            <a:off x="2880360" y="2176272"/>
            <a:ext cx="1147572" cy="566928"/>
          </a:xfrm>
          <a:prstGeom prst="roundRect">
            <a:avLst>
              <a:gd name="adj" fmla="val 8065"/>
            </a:avLst>
          </a:prstGeom>
          <a:solidFill>
            <a:srgbClr val="D6E5F9"/>
          </a:solidFill>
          <a:ln/>
        </p:spPr>
      </p:sp>
      <p:sp>
        <p:nvSpPr>
          <p:cNvPr id="33" name="Text 31"/>
          <p:cNvSpPr/>
          <p:nvPr/>
        </p:nvSpPr>
        <p:spPr>
          <a:xfrm>
            <a:off x="2926080" y="221742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926080" y="2345436"/>
            <a:ext cx="10561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Neck Threading</a:t>
            </a:r>
            <a:endParaRPr lang="en-US" sz="930" dirty="0"/>
          </a:p>
        </p:txBody>
      </p:sp>
      <p:sp>
        <p:nvSpPr>
          <p:cNvPr id="35" name="Shape 33"/>
          <p:cNvSpPr/>
          <p:nvPr/>
        </p:nvSpPr>
        <p:spPr>
          <a:xfrm>
            <a:off x="4069080" y="2176272"/>
            <a:ext cx="1147572" cy="566928"/>
          </a:xfrm>
          <a:prstGeom prst="roundRect">
            <a:avLst>
              <a:gd name="adj" fmla="val 8065"/>
            </a:avLst>
          </a:prstGeom>
          <a:solidFill>
            <a:srgbClr val="BBD3F4"/>
          </a:solidFill>
          <a:ln/>
        </p:spPr>
      </p:sp>
      <p:sp>
        <p:nvSpPr>
          <p:cNvPr id="36" name="Text 34"/>
          <p:cNvSpPr/>
          <p:nvPr/>
        </p:nvSpPr>
        <p:spPr>
          <a:xfrm>
            <a:off x="4114800" y="221742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114800" y="2345436"/>
            <a:ext cx="10561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W/C &amp; HST</a:t>
            </a:r>
            <a:endParaRPr lang="en-US" sz="930" dirty="0"/>
          </a:p>
        </p:txBody>
      </p:sp>
      <p:sp>
        <p:nvSpPr>
          <p:cNvPr id="38" name="Shape 36"/>
          <p:cNvSpPr/>
          <p:nvPr/>
        </p:nvSpPr>
        <p:spPr>
          <a:xfrm>
            <a:off x="5257800" y="2176272"/>
            <a:ext cx="1147572" cy="566928"/>
          </a:xfrm>
          <a:prstGeom prst="roundRect">
            <a:avLst>
              <a:gd name="adj" fmla="val 8065"/>
            </a:avLst>
          </a:prstGeom>
          <a:solidFill>
            <a:srgbClr val="BBD3F4"/>
          </a:solidFill>
          <a:ln/>
        </p:spPr>
      </p:sp>
      <p:sp>
        <p:nvSpPr>
          <p:cNvPr id="39" name="Text 37"/>
          <p:cNvSpPr/>
          <p:nvPr/>
        </p:nvSpPr>
        <p:spPr>
          <a:xfrm>
            <a:off x="5303520" y="221742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303520" y="2345436"/>
            <a:ext cx="10561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Cleaning</a:t>
            </a:r>
            <a:endParaRPr lang="en-US" sz="930" dirty="0"/>
          </a:p>
        </p:txBody>
      </p:sp>
      <p:sp>
        <p:nvSpPr>
          <p:cNvPr id="41" name="Shape 39"/>
          <p:cNvSpPr/>
          <p:nvPr/>
        </p:nvSpPr>
        <p:spPr>
          <a:xfrm>
            <a:off x="6446520" y="2176272"/>
            <a:ext cx="1147572" cy="566928"/>
          </a:xfrm>
          <a:prstGeom prst="roundRect">
            <a:avLst>
              <a:gd name="adj" fmla="val 8065"/>
            </a:avLst>
          </a:prstGeom>
          <a:solidFill>
            <a:srgbClr val="BBD3F4"/>
          </a:solidFill>
          <a:ln/>
        </p:spPr>
      </p:sp>
      <p:sp>
        <p:nvSpPr>
          <p:cNvPr id="42" name="Text 40"/>
          <p:cNvSpPr/>
          <p:nvPr/>
        </p:nvSpPr>
        <p:spPr>
          <a:xfrm>
            <a:off x="6492240" y="221742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492240" y="2345436"/>
            <a:ext cx="10561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Leak Testing</a:t>
            </a:r>
            <a:endParaRPr lang="en-US" sz="930" dirty="0"/>
          </a:p>
        </p:txBody>
      </p:sp>
      <p:sp>
        <p:nvSpPr>
          <p:cNvPr id="44" name="Shape 42"/>
          <p:cNvSpPr/>
          <p:nvPr/>
        </p:nvSpPr>
        <p:spPr>
          <a:xfrm>
            <a:off x="7635240" y="2176272"/>
            <a:ext cx="1147572" cy="566928"/>
          </a:xfrm>
          <a:prstGeom prst="roundRect">
            <a:avLst>
              <a:gd name="adj" fmla="val 8065"/>
            </a:avLst>
          </a:prstGeom>
          <a:solidFill>
            <a:srgbClr val="BBD3F4"/>
          </a:solidFill>
          <a:ln/>
        </p:spPr>
      </p:sp>
      <p:sp>
        <p:nvSpPr>
          <p:cNvPr id="45" name="Text 43"/>
          <p:cNvSpPr/>
          <p:nvPr/>
        </p:nvSpPr>
        <p:spPr>
          <a:xfrm>
            <a:off x="7680960" y="221742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680960" y="2345436"/>
            <a:ext cx="10561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Drier</a:t>
            </a:r>
            <a:endParaRPr lang="en-US" sz="930" dirty="0"/>
          </a:p>
        </p:txBody>
      </p:sp>
      <p:sp>
        <p:nvSpPr>
          <p:cNvPr id="47" name="Shape 45"/>
          <p:cNvSpPr/>
          <p:nvPr/>
        </p:nvSpPr>
        <p:spPr>
          <a:xfrm>
            <a:off x="502920" y="2871216"/>
            <a:ext cx="1147572" cy="566928"/>
          </a:xfrm>
          <a:prstGeom prst="roundRect">
            <a:avLst>
              <a:gd name="adj" fmla="val 8065"/>
            </a:avLst>
          </a:prstGeom>
          <a:solidFill>
            <a:srgbClr val="BBD3F4"/>
          </a:solidFill>
          <a:ln/>
        </p:spPr>
      </p:sp>
      <p:sp>
        <p:nvSpPr>
          <p:cNvPr id="48" name="Text 46"/>
          <p:cNvSpPr/>
          <p:nvPr/>
        </p:nvSpPr>
        <p:spPr>
          <a:xfrm>
            <a:off x="548640" y="2912364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48640" y="3040380"/>
            <a:ext cx="10561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Int. Shot Blasting</a:t>
            </a:r>
            <a:endParaRPr lang="en-US" sz="930" dirty="0"/>
          </a:p>
        </p:txBody>
      </p:sp>
      <p:sp>
        <p:nvSpPr>
          <p:cNvPr id="50" name="Shape 48"/>
          <p:cNvSpPr/>
          <p:nvPr/>
        </p:nvSpPr>
        <p:spPr>
          <a:xfrm>
            <a:off x="1691640" y="2871216"/>
            <a:ext cx="1147572" cy="566928"/>
          </a:xfrm>
          <a:prstGeom prst="roundRect">
            <a:avLst>
              <a:gd name="adj" fmla="val 8065"/>
            </a:avLst>
          </a:prstGeom>
          <a:solidFill>
            <a:srgbClr val="BBD3F4"/>
          </a:solidFill>
          <a:ln/>
        </p:spPr>
      </p:sp>
      <p:sp>
        <p:nvSpPr>
          <p:cNvPr id="51" name="Text 49"/>
          <p:cNvSpPr/>
          <p:nvPr/>
        </p:nvSpPr>
        <p:spPr>
          <a:xfrm>
            <a:off x="1737360" y="2912364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1737360" y="3040380"/>
            <a:ext cx="10561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Ext. Shot Blasting</a:t>
            </a:r>
            <a:endParaRPr lang="en-US" sz="930" dirty="0"/>
          </a:p>
        </p:txBody>
      </p:sp>
      <p:sp>
        <p:nvSpPr>
          <p:cNvPr id="53" name="Shape 51"/>
          <p:cNvSpPr/>
          <p:nvPr/>
        </p:nvSpPr>
        <p:spPr>
          <a:xfrm>
            <a:off x="2880360" y="2871216"/>
            <a:ext cx="1147572" cy="566928"/>
          </a:xfrm>
          <a:prstGeom prst="roundRect">
            <a:avLst>
              <a:gd name="adj" fmla="val 8065"/>
            </a:avLst>
          </a:prstGeom>
          <a:solidFill>
            <a:srgbClr val="BBD3F4"/>
          </a:solidFill>
          <a:ln/>
        </p:spPr>
      </p:sp>
      <p:sp>
        <p:nvSpPr>
          <p:cNvPr id="54" name="Text 52"/>
          <p:cNvSpPr/>
          <p:nvPr/>
        </p:nvSpPr>
        <p:spPr>
          <a:xfrm>
            <a:off x="2926080" y="2912364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2926080" y="3040380"/>
            <a:ext cx="10561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Ultrasonic Testing</a:t>
            </a:r>
            <a:endParaRPr lang="en-US" sz="930" dirty="0"/>
          </a:p>
        </p:txBody>
      </p:sp>
      <p:sp>
        <p:nvSpPr>
          <p:cNvPr id="56" name="Shape 54"/>
          <p:cNvSpPr/>
          <p:nvPr/>
        </p:nvSpPr>
        <p:spPr>
          <a:xfrm>
            <a:off x="4069080" y="2871216"/>
            <a:ext cx="1147572" cy="566928"/>
          </a:xfrm>
          <a:prstGeom prst="roundRect">
            <a:avLst>
              <a:gd name="adj" fmla="val 8065"/>
            </a:avLst>
          </a:prstGeom>
          <a:solidFill>
            <a:srgbClr val="9DBFEE"/>
          </a:solidFill>
          <a:ln/>
        </p:spPr>
      </p:sp>
      <p:sp>
        <p:nvSpPr>
          <p:cNvPr id="57" name="Text 55"/>
          <p:cNvSpPr/>
          <p:nvPr/>
        </p:nvSpPr>
        <p:spPr>
          <a:xfrm>
            <a:off x="4114800" y="2912364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4114800" y="3040380"/>
            <a:ext cx="10561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Stamping</a:t>
            </a:r>
            <a:endParaRPr lang="en-US" sz="930" dirty="0"/>
          </a:p>
        </p:txBody>
      </p:sp>
      <p:sp>
        <p:nvSpPr>
          <p:cNvPr id="59" name="Shape 57"/>
          <p:cNvSpPr/>
          <p:nvPr/>
        </p:nvSpPr>
        <p:spPr>
          <a:xfrm>
            <a:off x="5257800" y="2871216"/>
            <a:ext cx="1147572" cy="566928"/>
          </a:xfrm>
          <a:prstGeom prst="roundRect">
            <a:avLst>
              <a:gd name="adj" fmla="val 8065"/>
            </a:avLst>
          </a:prstGeom>
          <a:solidFill>
            <a:srgbClr val="9DBFEE"/>
          </a:solidFill>
          <a:ln/>
        </p:spPr>
      </p:sp>
      <p:sp>
        <p:nvSpPr>
          <p:cNvPr id="60" name="Text 58"/>
          <p:cNvSpPr/>
          <p:nvPr/>
        </p:nvSpPr>
        <p:spPr>
          <a:xfrm>
            <a:off x="5303520" y="2912364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5303520" y="3040380"/>
            <a:ext cx="10561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Painting</a:t>
            </a:r>
            <a:endParaRPr lang="en-US" sz="930" dirty="0"/>
          </a:p>
        </p:txBody>
      </p:sp>
      <p:sp>
        <p:nvSpPr>
          <p:cNvPr id="62" name="Shape 60"/>
          <p:cNvSpPr/>
          <p:nvPr/>
        </p:nvSpPr>
        <p:spPr>
          <a:xfrm>
            <a:off x="6446520" y="2871216"/>
            <a:ext cx="1147572" cy="566928"/>
          </a:xfrm>
          <a:prstGeom prst="roundRect">
            <a:avLst>
              <a:gd name="adj" fmla="val 8065"/>
            </a:avLst>
          </a:prstGeom>
          <a:solidFill>
            <a:srgbClr val="9DBFEE"/>
          </a:solidFill>
          <a:ln/>
        </p:spPr>
      </p:sp>
      <p:sp>
        <p:nvSpPr>
          <p:cNvPr id="63" name="Text 61"/>
          <p:cNvSpPr/>
          <p:nvPr/>
        </p:nvSpPr>
        <p:spPr>
          <a:xfrm>
            <a:off x="6492240" y="2912364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6492240" y="3040380"/>
            <a:ext cx="10561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PAUT – Cyl. Bottom</a:t>
            </a:r>
            <a:endParaRPr lang="en-US" sz="930" dirty="0"/>
          </a:p>
        </p:txBody>
      </p:sp>
      <p:sp>
        <p:nvSpPr>
          <p:cNvPr id="65" name="Shape 63"/>
          <p:cNvSpPr/>
          <p:nvPr/>
        </p:nvSpPr>
        <p:spPr>
          <a:xfrm>
            <a:off x="7635240" y="2871216"/>
            <a:ext cx="1147572" cy="566928"/>
          </a:xfrm>
          <a:prstGeom prst="roundRect">
            <a:avLst>
              <a:gd name="adj" fmla="val 8065"/>
            </a:avLst>
          </a:prstGeom>
          <a:solidFill>
            <a:srgbClr val="9DBFEE"/>
          </a:solidFill>
          <a:ln/>
        </p:spPr>
      </p:sp>
      <p:sp>
        <p:nvSpPr>
          <p:cNvPr id="66" name="Text 64"/>
          <p:cNvSpPr/>
          <p:nvPr/>
        </p:nvSpPr>
        <p:spPr>
          <a:xfrm>
            <a:off x="7680960" y="2912364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7680960" y="3040380"/>
            <a:ext cx="10561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on Pallet</a:t>
            </a:r>
            <a:endParaRPr lang="en-US" sz="930" dirty="0"/>
          </a:p>
        </p:txBody>
      </p:sp>
      <p:sp>
        <p:nvSpPr>
          <p:cNvPr id="68" name="Shape 66"/>
          <p:cNvSpPr/>
          <p:nvPr/>
        </p:nvSpPr>
        <p:spPr>
          <a:xfrm>
            <a:off x="502920" y="3712464"/>
            <a:ext cx="146304" cy="146304"/>
          </a:xfrm>
          <a:prstGeom prst="ellipse">
            <a:avLst/>
          </a:prstGeom>
          <a:solidFill>
            <a:srgbClr val="EFF4FC"/>
          </a:solidFill>
          <a:ln w="9525">
            <a:solidFill>
              <a:srgbClr val="B9CCE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04088" y="367588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Forming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2240280" y="3712464"/>
            <a:ext cx="146304" cy="146304"/>
          </a:xfrm>
          <a:prstGeom prst="ellipse">
            <a:avLst/>
          </a:prstGeom>
          <a:solidFill>
            <a:srgbClr val="D6E5F9"/>
          </a:solidFill>
          <a:ln w="9525">
            <a:solidFill>
              <a:srgbClr val="B9CCE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441448" y="367588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&amp; Machining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3977640" y="3712464"/>
            <a:ext cx="146304" cy="146304"/>
          </a:xfrm>
          <a:prstGeom prst="ellipse">
            <a:avLst/>
          </a:prstGeom>
          <a:solidFill>
            <a:srgbClr val="BBD3F4"/>
          </a:solidFill>
          <a:ln w="9525">
            <a:solidFill>
              <a:srgbClr val="B9CCE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178808" y="367588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Test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5715000" y="3712464"/>
            <a:ext cx="146304" cy="146304"/>
          </a:xfrm>
          <a:prstGeom prst="ellipse">
            <a:avLst/>
          </a:prstGeom>
          <a:solidFill>
            <a:srgbClr val="9DBFEE"/>
          </a:solidFill>
          <a:ln w="9525">
            <a:solidFill>
              <a:srgbClr val="B9CCE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916168" y="367588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&amp; Store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502920" y="4059936"/>
            <a:ext cx="8138160" cy="786384"/>
          </a:xfrm>
          <a:prstGeom prst="roundRect">
            <a:avLst>
              <a:gd name="adj" fmla="val 8140"/>
            </a:avLst>
          </a:prstGeom>
          <a:solidFill>
            <a:srgbClr val="EEF3FB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pic>
        <p:nvPicPr>
          <p:cNvPr id="7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4279392"/>
            <a:ext cx="329184" cy="329184"/>
          </a:xfrm>
          <a:prstGeom prst="rect">
            <a:avLst/>
          </a:prstGeom>
        </p:spPr>
      </p:pic>
      <p:sp>
        <p:nvSpPr>
          <p:cNvPr id="78" name="Text 75"/>
          <p:cNvSpPr/>
          <p:nvPr/>
        </p:nvSpPr>
        <p:spPr>
          <a:xfrm>
            <a:off x="1188720" y="4169664"/>
            <a:ext cx="7269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gives every cylinder its identity — the Pipe ID. </a:t>
            </a:r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Entered / scanned at Pipe Cutting, it travels through all 21 stages: every machine reading, result and timestamp is written against it. Stages 2–21 are machine-fed automatically.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End-to-end: machine signal to live dashboard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938528" cy="3017520"/>
          </a:xfrm>
          <a:prstGeom prst="roundRect">
            <a:avLst>
              <a:gd name="adj" fmla="val 3774"/>
            </a:avLst>
          </a:prstGeom>
          <a:solidFill>
            <a:srgbClr val="EEF3FB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9224" y="149961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SOURCES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30936" y="1883664"/>
            <a:ext cx="1682496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740664" y="1965960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S/4HANA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0664" y="2212848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pushes stage data + Pipe ID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30936" y="2706624"/>
            <a:ext cx="1682496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740664" y="2788920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 / PLCs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0664" y="3035808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readings directly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30936" y="3529584"/>
            <a:ext cx="1682496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740664" y="3611880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0664" y="3858768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scan-in &amp; manual entry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468880" y="2761488"/>
            <a:ext cx="237744" cy="237744"/>
          </a:xfrm>
          <a:prstGeom prst="rightArrow">
            <a:avLst/>
          </a:prstGeom>
          <a:solidFill>
            <a:srgbClr val="9FB6DE"/>
          </a:solidFill>
          <a:ln/>
        </p:spPr>
      </p:sp>
      <p:sp>
        <p:nvSpPr>
          <p:cNvPr id="16" name="Shape 14"/>
          <p:cNvSpPr/>
          <p:nvPr/>
        </p:nvSpPr>
        <p:spPr>
          <a:xfrm>
            <a:off x="2734056" y="1371600"/>
            <a:ext cx="1938528" cy="3017520"/>
          </a:xfrm>
          <a:prstGeom prst="roundRect">
            <a:avLst>
              <a:gd name="adj" fmla="val 3774"/>
            </a:avLst>
          </a:prstGeom>
          <a:solidFill>
            <a:srgbClr val="EEF3FB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880360" y="149961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INGEST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862072" y="1883664"/>
            <a:ext cx="1682496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2971800" y="1965960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APIs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971800" y="2212848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/sap/ingest · /cng/ingest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862072" y="2706624"/>
            <a:ext cx="1682496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2971800" y="2788920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API-key auth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971800" y="3035808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x-api-key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862072" y="3529584"/>
            <a:ext cx="1682496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2971800" y="3611880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accepts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971800" y="3858768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blocks a machine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00016" y="2761488"/>
            <a:ext cx="237744" cy="237744"/>
          </a:xfrm>
          <a:prstGeom prst="rightArrow">
            <a:avLst/>
          </a:prstGeom>
          <a:solidFill>
            <a:srgbClr val="9FB6DE"/>
          </a:solidFill>
          <a:ln/>
        </p:spPr>
      </p:sp>
      <p:sp>
        <p:nvSpPr>
          <p:cNvPr id="28" name="Shape 26"/>
          <p:cNvSpPr/>
          <p:nvPr/>
        </p:nvSpPr>
        <p:spPr>
          <a:xfrm>
            <a:off x="4965192" y="1371600"/>
            <a:ext cx="1938528" cy="3017520"/>
          </a:xfrm>
          <a:prstGeom prst="roundRect">
            <a:avLst>
              <a:gd name="adj" fmla="val 3774"/>
            </a:avLst>
          </a:prstGeom>
          <a:solidFill>
            <a:srgbClr val="EEF3FB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111496" y="149961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PROCESS &amp; STORE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093208" y="1883664"/>
            <a:ext cx="1682496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5202936" y="1965960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archive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02936" y="2212848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kept verbatim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093208" y="2706624"/>
            <a:ext cx="1682496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5202936" y="2788920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202936" y="3035808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aliases → clean fields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093208" y="3529584"/>
            <a:ext cx="1682496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5202936" y="3611880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+ Mongo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02936" y="3858768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+ telemetry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931152" y="2761488"/>
            <a:ext cx="237744" cy="237744"/>
          </a:xfrm>
          <a:prstGeom prst="rightArrow">
            <a:avLst/>
          </a:prstGeom>
          <a:solidFill>
            <a:srgbClr val="9FB6DE"/>
          </a:solidFill>
          <a:ln/>
        </p:spPr>
      </p:sp>
      <p:sp>
        <p:nvSpPr>
          <p:cNvPr id="40" name="Shape 38"/>
          <p:cNvSpPr/>
          <p:nvPr/>
        </p:nvSpPr>
        <p:spPr>
          <a:xfrm>
            <a:off x="7196328" y="1371600"/>
            <a:ext cx="1938528" cy="3017520"/>
          </a:xfrm>
          <a:prstGeom prst="roundRect">
            <a:avLst>
              <a:gd name="adj" fmla="val 377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342632" y="149961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OUTPUT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7324344" y="1883664"/>
            <a:ext cx="1682496" cy="713232"/>
          </a:xfrm>
          <a:prstGeom prst="roundRect">
            <a:avLst>
              <a:gd name="adj" fmla="val 6410"/>
            </a:avLst>
          </a:prstGeom>
          <a:solidFill>
            <a:srgbClr val="2A3A7D"/>
          </a:solidFill>
          <a:ln/>
        </p:spPr>
      </p:sp>
      <p:sp>
        <p:nvSpPr>
          <p:cNvPr id="43" name="Text 41"/>
          <p:cNvSpPr/>
          <p:nvPr/>
        </p:nvSpPr>
        <p:spPr>
          <a:xfrm>
            <a:off x="7434072" y="1965960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434072" y="2212848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C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screens, real-time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324344" y="2706624"/>
            <a:ext cx="1682496" cy="713232"/>
          </a:xfrm>
          <a:prstGeom prst="roundRect">
            <a:avLst>
              <a:gd name="adj" fmla="val 6410"/>
            </a:avLst>
          </a:prstGeom>
          <a:solidFill>
            <a:srgbClr val="2A3A7D"/>
          </a:solidFill>
          <a:ln/>
        </p:spPr>
      </p:sp>
      <p:sp>
        <p:nvSpPr>
          <p:cNvPr id="46" name="Text 44"/>
          <p:cNvSpPr/>
          <p:nvPr/>
        </p:nvSpPr>
        <p:spPr>
          <a:xfrm>
            <a:off x="7434072" y="2788920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&amp; occupancy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434072" y="3035808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C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per stage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324344" y="3529584"/>
            <a:ext cx="1682496" cy="713232"/>
          </a:xfrm>
          <a:prstGeom prst="roundRect">
            <a:avLst>
              <a:gd name="adj" fmla="val 6410"/>
            </a:avLst>
          </a:prstGeom>
          <a:solidFill>
            <a:srgbClr val="2A3A7D"/>
          </a:solidFill>
          <a:ln/>
        </p:spPr>
      </p:sp>
      <p:sp>
        <p:nvSpPr>
          <p:cNvPr id="49" name="Text 47"/>
          <p:cNvSpPr/>
          <p:nvPr/>
        </p:nvSpPr>
        <p:spPr>
          <a:xfrm>
            <a:off x="7434072" y="3611880"/>
            <a:ext cx="1481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trace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434072" y="3858768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EC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Pipe ID, any time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02920" y="4590288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rule: </a:t>
            </a:r>
            <a:pPr indent="0" marL="0"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first, interpret second. The line never waits on software — data is accepted in any shape, archived raw, then normalised and evaluated.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ACQUISITION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stage data reaches the system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5120640" cy="1042416"/>
          </a:xfrm>
          <a:prstGeom prst="roundRect">
            <a:avLst>
              <a:gd name="adj" fmla="val 6140"/>
            </a:avLst>
          </a:prstGeom>
          <a:solidFill>
            <a:srgbClr val="EEF3FB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76656" y="1609344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606" y="1710294"/>
            <a:ext cx="218724" cy="2187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43584" y="140817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push (primary)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243584" y="1664208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Minda's SAP maps its data to our published format and POSTs one message per machine event — always carrying the Pipe ID, stage and readings.</a:t>
            </a:r>
            <a:endParaRPr lang="en-US" sz="980" dirty="0"/>
          </a:p>
        </p:txBody>
      </p:sp>
      <p:sp>
        <p:nvSpPr>
          <p:cNvPr id="9" name="Text 6"/>
          <p:cNvSpPr/>
          <p:nvPr/>
        </p:nvSpPr>
        <p:spPr>
          <a:xfrm>
            <a:off x="3291840" y="208483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/api/v1/sap/ingest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02920" y="2487168"/>
            <a:ext cx="5120640" cy="1042416"/>
          </a:xfrm>
          <a:prstGeom prst="roundRect">
            <a:avLst>
              <a:gd name="adj" fmla="val 6140"/>
            </a:avLst>
          </a:prstGeom>
          <a:solidFill>
            <a:srgbClr val="EEF3FB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76656" y="2798064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606" y="2899014"/>
            <a:ext cx="218724" cy="2187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43584" y="259689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/ PLC push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1243584" y="2852928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 or edge gateways post JSON directly, exactly like the proven EKC &amp; JCI telemetry lines already running on this platform.</a:t>
            </a:r>
            <a:endParaRPr lang="en-US" sz="980" dirty="0"/>
          </a:p>
        </p:txBody>
      </p:sp>
      <p:sp>
        <p:nvSpPr>
          <p:cNvPr id="15" name="Text 11"/>
          <p:cNvSpPr/>
          <p:nvPr/>
        </p:nvSpPr>
        <p:spPr>
          <a:xfrm>
            <a:off x="3291840" y="327355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/api/v1/cng/ingest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502920" y="3675888"/>
            <a:ext cx="5120640" cy="1042416"/>
          </a:xfrm>
          <a:prstGeom prst="roundRect">
            <a:avLst>
              <a:gd name="adj" fmla="val 6140"/>
            </a:avLst>
          </a:prstGeom>
          <a:solidFill>
            <a:srgbClr val="EEF3FB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76656" y="3986784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606" y="4087734"/>
            <a:ext cx="218724" cy="21872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43584" y="378561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entry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1243584" y="4041648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(Pipe Cutting) births the Pipe ID via manual entry / barcode scan; scan-in links a cylinder to a machine wherever needed.</a:t>
            </a:r>
            <a:endParaRPr lang="en-US" sz="980" dirty="0"/>
          </a:p>
        </p:txBody>
      </p:sp>
      <p:sp>
        <p:nvSpPr>
          <p:cNvPr id="21" name="Text 16"/>
          <p:cNvSpPr/>
          <p:nvPr/>
        </p:nvSpPr>
        <p:spPr>
          <a:xfrm>
            <a:off x="3291840" y="4462272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Operator screen / scanner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5833872" y="1298448"/>
            <a:ext cx="2807208" cy="3566160"/>
          </a:xfrm>
          <a:prstGeom prst="roundRect">
            <a:avLst>
              <a:gd name="adj" fmla="val 2606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6035040" y="146304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STAGE EVENT — THE MESSAGE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6035040" y="1755648"/>
            <a:ext cx="248716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8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8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"machineId": "HT-401",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8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"stageNo": 6,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8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"pipeId": "JPM24C08921",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8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"ts": "2026-07-04T09:41:22Z",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8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"data": {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8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"furnace_temp": 892,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8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"soak_min": 42,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8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"result": "OK",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8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"status": "run"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8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8E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6035040" y="4224528"/>
            <a:ext cx="2432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EC4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pipeId on every message = traceability with no extra hardware.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PHILOSOPHY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Accept everything. Archive raw. Then make it clean.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938528" cy="2286000"/>
          </a:xfrm>
          <a:prstGeom prst="roundRect">
            <a:avLst>
              <a:gd name="adj" fmla="val 3774"/>
            </a:avLst>
          </a:prstGeom>
          <a:solidFill>
            <a:srgbClr val="EEF3FB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9224" y="1536192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785" y="1632753"/>
            <a:ext cx="209215" cy="20921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9224" y="2048256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ACCEPT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49224" y="2322576"/>
            <a:ext cx="168249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JSON shape is taken with a 2xx — single object, array batch, nested or flat. A schema change upstream never stops the line.</a:t>
            </a:r>
            <a:endParaRPr lang="en-US" sz="960" dirty="0"/>
          </a:p>
        </p:txBody>
      </p:sp>
      <p:sp>
        <p:nvSpPr>
          <p:cNvPr id="9" name="Shape 6"/>
          <p:cNvSpPr/>
          <p:nvPr/>
        </p:nvSpPr>
        <p:spPr>
          <a:xfrm>
            <a:off x="2555748" y="1371600"/>
            <a:ext cx="1938528" cy="2286000"/>
          </a:xfrm>
          <a:prstGeom prst="roundRect">
            <a:avLst>
              <a:gd name="adj" fmla="val 3774"/>
            </a:avLst>
          </a:prstGeom>
          <a:solidFill>
            <a:srgbClr val="EEF3FB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702052" y="1536192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613" y="1632753"/>
            <a:ext cx="209215" cy="20921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02052" y="2048256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ARCHIVE RAW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2702052" y="2322576"/>
            <a:ext cx="168249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payload is stored untouched (SAP inbox / telemetry store) — a permanent audit copy that can be re-processed anytime.</a:t>
            </a:r>
            <a:endParaRPr lang="en-US" sz="960" dirty="0"/>
          </a:p>
        </p:txBody>
      </p:sp>
      <p:sp>
        <p:nvSpPr>
          <p:cNvPr id="14" name="Shape 10"/>
          <p:cNvSpPr/>
          <p:nvPr/>
        </p:nvSpPr>
        <p:spPr>
          <a:xfrm>
            <a:off x="4608576" y="1371600"/>
            <a:ext cx="1938528" cy="2286000"/>
          </a:xfrm>
          <a:prstGeom prst="roundRect">
            <a:avLst>
              <a:gd name="adj" fmla="val 3774"/>
            </a:avLst>
          </a:prstGeom>
          <a:solidFill>
            <a:srgbClr val="EEF3FB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754880" y="1536192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1441" y="1632753"/>
            <a:ext cx="209215" cy="20921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754880" y="2048256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NORMALISE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4754880" y="2322576"/>
            <a:ext cx="168249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tolerant mapper resolves field aliases (machineId / machine_id / device…), units and timestamps into one clean stage-event record.</a:t>
            </a:r>
            <a:endParaRPr lang="en-US" sz="960" dirty="0"/>
          </a:p>
        </p:txBody>
      </p:sp>
      <p:sp>
        <p:nvSpPr>
          <p:cNvPr id="19" name="Shape 14"/>
          <p:cNvSpPr/>
          <p:nvPr/>
        </p:nvSpPr>
        <p:spPr>
          <a:xfrm>
            <a:off x="6661404" y="1371600"/>
            <a:ext cx="1938528" cy="2286000"/>
          </a:xfrm>
          <a:prstGeom prst="roundRect">
            <a:avLst>
              <a:gd name="adj" fmla="val 3774"/>
            </a:avLst>
          </a:prstGeom>
          <a:solidFill>
            <a:srgbClr val="EEF3FB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807708" y="1536192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4269" y="1632753"/>
            <a:ext cx="209215" cy="20921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07708" y="2048256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VALIDATE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6807708" y="2322576"/>
            <a:ext cx="168249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PLC fault sentinels (-32768, 32767, 65535) are quarantined, duplicates dropped, and only clean values reach evaluation.</a:t>
            </a:r>
            <a:endParaRPr lang="en-US" sz="960" dirty="0"/>
          </a:p>
        </p:txBody>
      </p:sp>
      <p:sp>
        <p:nvSpPr>
          <p:cNvPr id="24" name="Shape 18"/>
          <p:cNvSpPr/>
          <p:nvPr/>
        </p:nvSpPr>
        <p:spPr>
          <a:xfrm>
            <a:off x="502920" y="3913632"/>
            <a:ext cx="8138160" cy="896112"/>
          </a:xfrm>
          <a:prstGeom prst="roundRect">
            <a:avLst>
              <a:gd name="adj" fmla="val 714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749808" y="4041648"/>
            <a:ext cx="7644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raw-first?  </a:t>
            </a:r>
            <a:pPr indent="0" marL="0">
              <a:buNone/>
            </a:pPr>
            <a:r>
              <a:rPr lang="en-US" sz="1150" dirty="0">
                <a:solidFill>
                  <a:srgbClr val="C9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formats drift, SAP mappings evolve, vendors change firmware. Because the original payload is always kept, nothing is ever lost — history can be re-normalised under new rules without asking anyone to resend data.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EVALUATION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reading judged against the stage's limits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62456"/>
            <a:ext cx="274320" cy="274320"/>
          </a:xfrm>
          <a:prstGeom prst="ellipse">
            <a:avLst/>
          </a:prstGeom>
          <a:solidFill>
            <a:srgbClr val="E2EBF8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3624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131673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check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572768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parameter is compared to the stage's engineering window (min–max per metric — temperature, pressure, hardness, thickness…).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502920" y="2258568"/>
            <a:ext cx="274320" cy="274320"/>
          </a:xfrm>
          <a:prstGeom prst="ellipse">
            <a:avLst/>
          </a:prstGeom>
          <a:solidFill>
            <a:srgbClr val="E2EBF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258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22128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result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468880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stage event is stamped OK or NG and written to the cylinder's permanent stage record with machine, time and values.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502920" y="3154680"/>
            <a:ext cx="274320" cy="274320"/>
          </a:xfrm>
          <a:prstGeom prst="ellipse">
            <a:avLst/>
          </a:prstGeom>
          <a:solidFill>
            <a:srgbClr val="E2EBF8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154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31089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capture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3364992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NG result opens a defect entry — stage, machine, parameter and value — feeding the Defects board until closure.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502920" y="4050792"/>
            <a:ext cx="274320" cy="274320"/>
          </a:xfrm>
          <a:prstGeom prst="ellipse">
            <a:avLst/>
          </a:prstGeom>
          <a:solidFill>
            <a:srgbClr val="E2EBF8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4050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14400" y="40050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status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4261104"/>
            <a:ext cx="4160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message also updates the machine's live state: run / idle / stopped / maintenance / fault, shown on the Machines wall.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5440680" y="1316736"/>
            <a:ext cx="3200400" cy="3529584"/>
          </a:xfrm>
          <a:prstGeom prst="roundRect">
            <a:avLst>
              <a:gd name="adj" fmla="val 2286"/>
            </a:avLst>
          </a:prstGeom>
          <a:solidFill>
            <a:srgbClr val="EEF3FB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623560" y="146304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SEEN ON THE DASHBOARD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623560" y="1773936"/>
            <a:ext cx="283464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8152" y="1920240"/>
            <a:ext cx="274320" cy="27432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6163056" y="1883664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Treatment · HT-401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163056" y="21031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892</a:t>
            </a:r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°C</a:t>
            </a:r>
            <a:endParaRPr lang="en-US" sz="2600" dirty="0"/>
          </a:p>
        </p:txBody>
      </p:sp>
      <p:sp>
        <p:nvSpPr>
          <p:cNvPr id="26" name="Text 23"/>
          <p:cNvSpPr/>
          <p:nvPr/>
        </p:nvSpPr>
        <p:spPr>
          <a:xfrm>
            <a:off x="6163056" y="261518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9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850 – 950 °C   →   OK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5815584" y="2889504"/>
            <a:ext cx="2450592" cy="82296"/>
          </a:xfrm>
          <a:prstGeom prst="roundRect">
            <a:avLst>
              <a:gd name="adj" fmla="val 44444"/>
            </a:avLst>
          </a:prstGeom>
          <a:solidFill>
            <a:srgbClr val="E2EBF8"/>
          </a:solidFill>
          <a:ln/>
        </p:spPr>
      </p:sp>
      <p:sp>
        <p:nvSpPr>
          <p:cNvPr id="28" name="Shape 25"/>
          <p:cNvSpPr/>
          <p:nvPr/>
        </p:nvSpPr>
        <p:spPr>
          <a:xfrm>
            <a:off x="5815584" y="2889504"/>
            <a:ext cx="1033272" cy="82296"/>
          </a:xfrm>
          <a:prstGeom prst="roundRect">
            <a:avLst>
              <a:gd name="adj" fmla="val 44444"/>
            </a:avLst>
          </a:prstGeom>
          <a:solidFill>
            <a:srgbClr val="1A9A50"/>
          </a:solidFill>
          <a:ln/>
        </p:spPr>
      </p:sp>
      <p:sp>
        <p:nvSpPr>
          <p:cNvPr id="29" name="Shape 26"/>
          <p:cNvSpPr/>
          <p:nvPr/>
        </p:nvSpPr>
        <p:spPr>
          <a:xfrm>
            <a:off x="5623560" y="3200400"/>
            <a:ext cx="283464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/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8152" y="3346704"/>
            <a:ext cx="274320" cy="27432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6163056" y="3310128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Leak Test · ALT-1301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6163056" y="352958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0.34</a:t>
            </a:r>
            <a:pPr indent="0" marL="0">
              <a:buNone/>
            </a:pPr>
            <a:r>
              <a:rPr lang="en-US" sz="13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bar drop</a:t>
            </a:r>
            <a:endParaRPr lang="en-US" sz="2600" dirty="0"/>
          </a:p>
        </p:txBody>
      </p:sp>
      <p:sp>
        <p:nvSpPr>
          <p:cNvPr id="33" name="Text 29"/>
          <p:cNvSpPr/>
          <p:nvPr/>
        </p:nvSpPr>
        <p:spPr>
          <a:xfrm>
            <a:off x="6163056" y="404164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≤ 0.10 bar   →   NG · defect raised</a:t>
            </a:r>
            <a:endParaRPr lang="en-US" sz="950" dirty="0"/>
          </a:p>
        </p:txBody>
      </p:sp>
      <p:sp>
        <p:nvSpPr>
          <p:cNvPr id="34" name="Shape 30"/>
          <p:cNvSpPr/>
          <p:nvPr/>
        </p:nvSpPr>
        <p:spPr>
          <a:xfrm>
            <a:off x="5815584" y="4315968"/>
            <a:ext cx="2450592" cy="82296"/>
          </a:xfrm>
          <a:prstGeom prst="roundRect">
            <a:avLst>
              <a:gd name="adj" fmla="val 44444"/>
            </a:avLst>
          </a:prstGeom>
          <a:solidFill>
            <a:srgbClr val="E2EBF8"/>
          </a:solidFill>
          <a:ln/>
        </p:spPr>
      </p:sp>
      <p:sp>
        <p:nvSpPr>
          <p:cNvPr id="35" name="Shape 31"/>
          <p:cNvSpPr/>
          <p:nvPr/>
        </p:nvSpPr>
        <p:spPr>
          <a:xfrm>
            <a:off x="5815584" y="4315968"/>
            <a:ext cx="2286000" cy="82296"/>
          </a:xfrm>
          <a:prstGeom prst="roundRect">
            <a:avLst>
              <a:gd name="adj" fmla="val 44444"/>
            </a:avLst>
          </a:prstGeom>
          <a:solidFill>
            <a:srgbClr val="C93B3B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Two-tier storage: business truth + raw telemetry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35024"/>
            <a:ext cx="5257800" cy="3035808"/>
          </a:xfrm>
          <a:prstGeom prst="roundRect">
            <a:avLst>
              <a:gd name="adj" fmla="val 2410"/>
            </a:avLst>
          </a:prstGeom>
          <a:solidFill>
            <a:srgbClr val="EEF3FB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292608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15568" y="151790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(JPMDO) — the business record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749808" y="188366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cng_cylinder  </a:t>
            </a:r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one row per Pipe ID — the cylinder master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49808" y="217170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cng_stage_record  </a:t>
            </a:r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one row per stage event: values, result, machine, time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49808" y="245973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cng_machine  </a:t>
            </a:r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live state per machine: status, latest gauges, ranges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49808" y="2747772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cng_defect  </a:t>
            </a:r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every NG with stage, parameter and closure state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49808" y="303580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sap_inbox  </a:t>
            </a:r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raw SAP payload archive — full audit trail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49808" y="332384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cng_ingest_key  </a:t>
            </a:r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registered, hashed API keys per data source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49808" y="3666744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Additive schema — new cng_* tables only. Existing Minda tables untouched, zero regression risk.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989320" y="1335024"/>
            <a:ext cx="2651760" cy="3035808"/>
          </a:xfrm>
          <a:prstGeom prst="roundRect">
            <a:avLst>
              <a:gd name="adj" fmla="val 2759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2" y="1499616"/>
            <a:ext cx="292608" cy="29260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583680" y="1517904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— raw telemetry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6199632" y="1993392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050" dirty="0">
                <a:solidFill>
                  <a:srgbClr val="C9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machine packet, verbatim, as a time-series.</a:t>
            </a:r>
            <a:endParaRPr lang="en-US" sz="10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050" dirty="0">
                <a:solidFill>
                  <a:srgbClr val="C9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Loose schema by design — new sensors and fields appear without any migration.</a:t>
            </a:r>
            <a:endParaRPr lang="en-US" sz="10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050" dirty="0">
                <a:solidFill>
                  <a:srgbClr val="C9D8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re-processing, deep dives and future analytics (OEE, SPC, ML).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502920" y="4553712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two tiers?  </a:t>
            </a:r>
            <a:pPr indent="0" marL="0">
              <a:buNone/>
            </a:pPr>
            <a:r>
              <a:rPr lang="en-US" sz="115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relational data gives fast, reliable dashboards; the raw archive guarantees nothing is ever lost. Each does what it's best at.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 &amp; OUTPUT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stage records to live answers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35024"/>
            <a:ext cx="3977640" cy="749808"/>
          </a:xfrm>
          <a:prstGeom prst="roundRect">
            <a:avLst>
              <a:gd name="adj" fmla="val 7317"/>
            </a:avLst>
          </a:prstGeom>
          <a:solidFill>
            <a:srgbClr val="EEF3FB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408176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occupancy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1655064"/>
            <a:ext cx="3639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cylinders currently sitting at each of the 21 stages — the live line-balance picture</a:t>
            </a:r>
            <a:endParaRPr lang="en-US" sz="960" dirty="0"/>
          </a:p>
        </p:txBody>
      </p:sp>
      <p:sp>
        <p:nvSpPr>
          <p:cNvPr id="7" name="Shape 5"/>
          <p:cNvSpPr/>
          <p:nvPr/>
        </p:nvSpPr>
        <p:spPr>
          <a:xfrm>
            <a:off x="502920" y="2157984"/>
            <a:ext cx="3977640" cy="749808"/>
          </a:xfrm>
          <a:prstGeom prst="roundRect">
            <a:avLst>
              <a:gd name="adj" fmla="val 7317"/>
            </a:avLst>
          </a:prstGeom>
          <a:solidFill>
            <a:srgbClr val="EEF3FB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231136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 / completed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478024"/>
            <a:ext cx="3639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derived from each cylinder's furthest stage record — no manual tallies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502920" y="2980944"/>
            <a:ext cx="3977640" cy="749808"/>
          </a:xfrm>
          <a:prstGeom prst="roundRect">
            <a:avLst>
              <a:gd name="adj" fmla="val 7317"/>
            </a:avLst>
          </a:prstGeom>
          <a:solidFill>
            <a:srgbClr val="EEF3FB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3054096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defects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3300984"/>
            <a:ext cx="3639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OK/NG rates per stage &amp; machine; open defect ageing until closure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502920" y="3803904"/>
            <a:ext cx="3977640" cy="749808"/>
          </a:xfrm>
          <a:prstGeom prst="roundRect">
            <a:avLst>
              <a:gd name="adj" fmla="val 7317"/>
            </a:avLst>
          </a:prstGeom>
          <a:solidFill>
            <a:srgbClr val="EEF3FB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" y="3877056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liveness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4123944"/>
            <a:ext cx="36393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reading vs range per gauge; stale feed detection via last-seen time</a:t>
            </a:r>
            <a:endParaRPr lang="en-US" sz="960" dirty="0"/>
          </a:p>
        </p:txBody>
      </p:sp>
      <p:sp>
        <p:nvSpPr>
          <p:cNvPr id="16" name="Text 14"/>
          <p:cNvSpPr/>
          <p:nvPr/>
        </p:nvSpPr>
        <p:spPr>
          <a:xfrm>
            <a:off x="4800600" y="129844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LIVE SCREENS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0600" y="1627632"/>
            <a:ext cx="384048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5E1F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19472" y="1719072"/>
            <a:ext cx="365760" cy="365760"/>
          </a:xfrm>
          <a:prstGeom prst="ellipse">
            <a:avLst/>
          </a:prstGeom>
          <a:solidFill>
            <a:srgbClr val="EEF3FB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7254" y="1806854"/>
            <a:ext cx="190195" cy="190195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413248" y="168249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Ops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5413248" y="191109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occupancy, live event feed</a:t>
            </a:r>
            <a:endParaRPr lang="en-US" sz="930" dirty="0"/>
          </a:p>
        </p:txBody>
      </p:sp>
      <p:sp>
        <p:nvSpPr>
          <p:cNvPr id="22" name="Shape 19"/>
          <p:cNvSpPr/>
          <p:nvPr/>
        </p:nvSpPr>
        <p:spPr>
          <a:xfrm>
            <a:off x="4800600" y="2249424"/>
            <a:ext cx="384048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5E1F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919472" y="2340864"/>
            <a:ext cx="365760" cy="365760"/>
          </a:xfrm>
          <a:prstGeom prst="ellipse">
            <a:avLst/>
          </a:prstGeom>
          <a:solidFill>
            <a:srgbClr val="EEF3FB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7254" y="2428646"/>
            <a:ext cx="190195" cy="190195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413248" y="230428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Cylinder Trace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5413248" y="253288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 Pipe ID → its full 21-stage journey</a:t>
            </a:r>
            <a:endParaRPr lang="en-US" sz="930" dirty="0"/>
          </a:p>
        </p:txBody>
      </p:sp>
      <p:sp>
        <p:nvSpPr>
          <p:cNvPr id="27" name="Shape 23"/>
          <p:cNvSpPr/>
          <p:nvPr/>
        </p:nvSpPr>
        <p:spPr>
          <a:xfrm>
            <a:off x="4800600" y="2871216"/>
            <a:ext cx="384048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5E1F3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4919472" y="2962656"/>
            <a:ext cx="365760" cy="365760"/>
          </a:xfrm>
          <a:prstGeom prst="ellipse">
            <a:avLst/>
          </a:prstGeom>
          <a:solidFill>
            <a:srgbClr val="EEF3FB"/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7254" y="3050438"/>
            <a:ext cx="190195" cy="190195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5413248" y="292608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</a:t>
            </a:r>
            <a:endParaRPr lang="en-US" sz="1150" dirty="0"/>
          </a:p>
        </p:txBody>
      </p:sp>
      <p:sp>
        <p:nvSpPr>
          <p:cNvPr id="31" name="Text 26"/>
          <p:cNvSpPr/>
          <p:nvPr/>
        </p:nvSpPr>
        <p:spPr>
          <a:xfrm>
            <a:off x="5413248" y="315468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wall with live gauges &amp; status</a:t>
            </a:r>
            <a:endParaRPr lang="en-US" sz="930" dirty="0"/>
          </a:p>
        </p:txBody>
      </p:sp>
      <p:sp>
        <p:nvSpPr>
          <p:cNvPr id="32" name="Shape 27"/>
          <p:cNvSpPr/>
          <p:nvPr/>
        </p:nvSpPr>
        <p:spPr>
          <a:xfrm>
            <a:off x="4800600" y="3493008"/>
            <a:ext cx="384048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5E1F3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4919472" y="3584448"/>
            <a:ext cx="365760" cy="365760"/>
          </a:xfrm>
          <a:prstGeom prst="ellipse">
            <a:avLst/>
          </a:prstGeom>
          <a:solidFill>
            <a:srgbClr val="EEF3FB"/>
          </a:solidFill>
          <a:ln/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7254" y="3672230"/>
            <a:ext cx="190195" cy="190195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5413248" y="354787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5413248" y="377647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any period, machine or stage</a:t>
            </a:r>
            <a:endParaRPr lang="en-US" sz="930" dirty="0"/>
          </a:p>
        </p:txBody>
      </p:sp>
      <p:sp>
        <p:nvSpPr>
          <p:cNvPr id="37" name="Shape 31"/>
          <p:cNvSpPr/>
          <p:nvPr/>
        </p:nvSpPr>
        <p:spPr>
          <a:xfrm>
            <a:off x="4800600" y="4114800"/>
            <a:ext cx="384048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5E1F3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4919472" y="4206240"/>
            <a:ext cx="365760" cy="365760"/>
          </a:xfrm>
          <a:prstGeom prst="ellipse">
            <a:avLst/>
          </a:prstGeom>
          <a:solidFill>
            <a:srgbClr val="EEF3FB"/>
          </a:solidFill>
          <a:ln/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7254" y="4294022"/>
            <a:ext cx="190195" cy="190195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5413248" y="416966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</a:t>
            </a:r>
            <a:endParaRPr lang="en-US" sz="1150" dirty="0"/>
          </a:p>
        </p:txBody>
      </p:sp>
      <p:sp>
        <p:nvSpPr>
          <p:cNvPr id="41" name="Text 34"/>
          <p:cNvSpPr/>
          <p:nvPr/>
        </p:nvSpPr>
        <p:spPr>
          <a:xfrm>
            <a:off x="5413248" y="439826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NGs, ageing and closure</a:t>
            </a:r>
            <a:endParaRPr lang="en-US" sz="930" dirty="0"/>
          </a:p>
        </p:txBody>
      </p:sp>
      <p:sp>
        <p:nvSpPr>
          <p:cNvPr id="42" name="Text 35"/>
          <p:cNvSpPr/>
          <p:nvPr/>
        </p:nvSpPr>
        <p:spPr>
          <a:xfrm>
            <a:off x="502920" y="473659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by design: </a:t>
            </a:r>
            <a:pPr indent="0" marL="0">
              <a:buNone/>
            </a:pPr>
            <a:r>
              <a:rPr lang="en-US" sz="11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pushes an update the moment data lands; polling guarantees freshness even on flaky networks.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TRACEABILITY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Pipe ID — the complete life of a cylinder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89888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53619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160934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 Cutting (stage 1): Pipe ID created — scan or manual entry</a:t>
            </a:r>
            <a:endParaRPr lang="en-US" sz="980" dirty="0"/>
          </a:p>
        </p:txBody>
      </p:sp>
      <p:sp>
        <p:nvSpPr>
          <p:cNvPr id="7" name="Shape 5"/>
          <p:cNvSpPr/>
          <p:nvPr/>
        </p:nvSpPr>
        <p:spPr>
          <a:xfrm>
            <a:off x="2395728" y="1956816"/>
            <a:ext cx="219456" cy="219456"/>
          </a:xfrm>
          <a:prstGeom prst="rightArrow">
            <a:avLst/>
          </a:prstGeom>
          <a:solidFill>
            <a:srgbClr val="9FB6DE"/>
          </a:solidFill>
          <a:ln/>
        </p:spPr>
      </p:sp>
      <p:sp>
        <p:nvSpPr>
          <p:cNvPr id="8" name="Shape 6"/>
          <p:cNvSpPr/>
          <p:nvPr/>
        </p:nvSpPr>
        <p:spPr>
          <a:xfrm>
            <a:off x="2628900" y="1389888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66060" y="153619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766060" y="1828800"/>
            <a:ext cx="160934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SAP / machine message carries the Pipe ID with its readings</a:t>
            </a:r>
            <a:endParaRPr lang="en-US" sz="980" dirty="0"/>
          </a:p>
        </p:txBody>
      </p:sp>
      <p:sp>
        <p:nvSpPr>
          <p:cNvPr id="11" name="Shape 9"/>
          <p:cNvSpPr/>
          <p:nvPr/>
        </p:nvSpPr>
        <p:spPr>
          <a:xfrm>
            <a:off x="4521708" y="1956816"/>
            <a:ext cx="219456" cy="219456"/>
          </a:xfrm>
          <a:prstGeom prst="rightArrow">
            <a:avLst/>
          </a:prstGeom>
          <a:solidFill>
            <a:srgbClr val="9FB6DE"/>
          </a:solidFill>
          <a:ln/>
        </p:spPr>
      </p:sp>
      <p:sp>
        <p:nvSpPr>
          <p:cNvPr id="12" name="Shape 10"/>
          <p:cNvSpPr/>
          <p:nvPr/>
        </p:nvSpPr>
        <p:spPr>
          <a:xfrm>
            <a:off x="4754880" y="1389888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92040" y="153619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92040" y="1828800"/>
            <a:ext cx="160934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21 stage records: machine, values, result, timestamp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6647688" y="1956816"/>
            <a:ext cx="219456" cy="219456"/>
          </a:xfrm>
          <a:prstGeom prst="rightArrow">
            <a:avLst/>
          </a:prstGeom>
          <a:solidFill>
            <a:srgbClr val="9FB6DE"/>
          </a:solidFill>
          <a:ln/>
        </p:spPr>
      </p:sp>
      <p:sp>
        <p:nvSpPr>
          <p:cNvPr id="16" name="Shape 14"/>
          <p:cNvSpPr/>
          <p:nvPr/>
        </p:nvSpPr>
        <p:spPr>
          <a:xfrm>
            <a:off x="6880860" y="1389888"/>
            <a:ext cx="1874520" cy="1371600"/>
          </a:xfrm>
          <a:prstGeom prst="roundRect">
            <a:avLst>
              <a:gd name="adj" fmla="val 5333"/>
            </a:avLst>
          </a:prstGeom>
          <a:solidFill>
            <a:srgbClr val="EEF3FB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018020" y="153619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018020" y="1828800"/>
            <a:ext cx="160934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any Pipe ID → the full journey, seconds later, years later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502920" y="3054096"/>
            <a:ext cx="3977640" cy="1700784"/>
          </a:xfrm>
          <a:prstGeom prst="roundRect">
            <a:avLst>
              <a:gd name="adj" fmla="val 430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7240" y="3255264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Pipe ID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777240" y="387705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21</a:t>
            </a:r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stage records, one audit trail</a:t>
            </a:r>
            <a:endParaRPr lang="en-US" sz="4000" dirty="0"/>
          </a:p>
        </p:txBody>
      </p:sp>
      <p:sp>
        <p:nvSpPr>
          <p:cNvPr id="22" name="Shape 20"/>
          <p:cNvSpPr/>
          <p:nvPr/>
        </p:nvSpPr>
        <p:spPr>
          <a:xfrm>
            <a:off x="4663440" y="3054096"/>
            <a:ext cx="3977640" cy="1700784"/>
          </a:xfrm>
          <a:prstGeom prst="roundRect">
            <a:avLst>
              <a:gd name="adj" fmla="val 4301"/>
            </a:avLst>
          </a:prstGeom>
          <a:solidFill>
            <a:srgbClr val="EEF3FB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64608" y="320040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UNLOCKS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64608" y="3493008"/>
            <a:ext cx="3611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&amp; IATF audits answered from a screen, not a paper hunt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scope narrowed to exact cylinders, batches and machines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 root-cause: see the same stage across every affected cylinder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stack behind it — and why each piece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3977640" cy="822960"/>
          </a:xfrm>
          <a:prstGeom prst="roundRect">
            <a:avLst>
              <a:gd name="adj" fmla="val 6667"/>
            </a:avLst>
          </a:prstGeom>
          <a:solidFill>
            <a:srgbClr val="EEF3FB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30936" y="1499616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7497" y="1596177"/>
            <a:ext cx="209215" cy="20921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61288" y="140817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  </a:t>
            </a:r>
            <a:pPr indent="0" marL="0">
              <a:buNone/>
            </a:pPr>
            <a:r>
              <a:rPr lang="en-US" sz="10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 + Tailwind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161288" y="1664208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plant-floor dashboards; TanStack Query keeps data fresh</a:t>
            </a:r>
            <a:endParaRPr lang="en-US" sz="960" dirty="0"/>
          </a:p>
        </p:txBody>
      </p:sp>
      <p:sp>
        <p:nvSpPr>
          <p:cNvPr id="9" name="Shape 6"/>
          <p:cNvSpPr/>
          <p:nvPr/>
        </p:nvSpPr>
        <p:spPr>
          <a:xfrm>
            <a:off x="4663440" y="1298448"/>
            <a:ext cx="3977640" cy="822960"/>
          </a:xfrm>
          <a:prstGeom prst="roundRect">
            <a:avLst>
              <a:gd name="adj" fmla="val 6667"/>
            </a:avLst>
          </a:prstGeom>
          <a:solidFill>
            <a:srgbClr val="EEF3FB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1499616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8017" y="1596177"/>
            <a:ext cx="209215" cy="20921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21808" y="1408176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  </a:t>
            </a:r>
            <a:pPr indent="0" marL="0">
              <a:buNone/>
            </a:pPr>
            <a:r>
              <a:rPr lang="en-US" sz="10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Express 5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5321808" y="1664208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API layer for ingest, evaluation and dashboards</a:t>
            </a:r>
            <a:endParaRPr lang="en-US" sz="960" dirty="0"/>
          </a:p>
        </p:txBody>
      </p:sp>
      <p:sp>
        <p:nvSpPr>
          <p:cNvPr id="14" name="Shape 10"/>
          <p:cNvSpPr/>
          <p:nvPr/>
        </p:nvSpPr>
        <p:spPr>
          <a:xfrm>
            <a:off x="502920" y="2249424"/>
            <a:ext cx="3977640" cy="822960"/>
          </a:xfrm>
          <a:prstGeom prst="roundRect">
            <a:avLst>
              <a:gd name="adj" fmla="val 6667"/>
            </a:avLst>
          </a:prstGeom>
          <a:solidFill>
            <a:srgbClr val="EEF3FB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0936" y="2450592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497" y="2547153"/>
            <a:ext cx="209215" cy="20921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161288" y="235915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data   </a:t>
            </a:r>
            <a:pPr indent="0" marL="0">
              <a:buNone/>
            </a:pPr>
            <a:r>
              <a:rPr lang="en-US" sz="10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(Sequelize)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1161288" y="2615184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inside Minda's existing JPMDO — one platform, one login</a:t>
            </a:r>
            <a:endParaRPr lang="en-US" sz="960" dirty="0"/>
          </a:p>
        </p:txBody>
      </p:sp>
      <p:sp>
        <p:nvSpPr>
          <p:cNvPr id="19" name="Shape 14"/>
          <p:cNvSpPr/>
          <p:nvPr/>
        </p:nvSpPr>
        <p:spPr>
          <a:xfrm>
            <a:off x="4663440" y="2249424"/>
            <a:ext cx="3977640" cy="822960"/>
          </a:xfrm>
          <a:prstGeom prst="roundRect">
            <a:avLst>
              <a:gd name="adj" fmla="val 6667"/>
            </a:avLst>
          </a:prstGeom>
          <a:solidFill>
            <a:srgbClr val="EEF3FB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791456" y="2450592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8017" y="2547153"/>
            <a:ext cx="209215" cy="20921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21808" y="2359152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telemetry   </a:t>
            </a:r>
            <a:pPr indent="0" marL="0">
              <a:buNone/>
            </a:pPr>
            <a:r>
              <a:rPr lang="en-US" sz="10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time-series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5321808" y="2615184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schema-loose archive of every packet, ready to re-process</a:t>
            </a:r>
            <a:endParaRPr lang="en-US" sz="960" dirty="0"/>
          </a:p>
        </p:txBody>
      </p:sp>
      <p:sp>
        <p:nvSpPr>
          <p:cNvPr id="24" name="Shape 18"/>
          <p:cNvSpPr/>
          <p:nvPr/>
        </p:nvSpPr>
        <p:spPr>
          <a:xfrm>
            <a:off x="502920" y="3200400"/>
            <a:ext cx="3977640" cy="822960"/>
          </a:xfrm>
          <a:prstGeom prst="roundRect">
            <a:avLst>
              <a:gd name="adj" fmla="val 6667"/>
            </a:avLst>
          </a:prstGeom>
          <a:solidFill>
            <a:srgbClr val="EEF3FB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30936" y="3401568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497" y="3498129"/>
            <a:ext cx="209215" cy="20921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161288" y="331012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  </a:t>
            </a:r>
            <a:pPr indent="0" marL="0">
              <a:buNone/>
            </a:pPr>
            <a:r>
              <a:rPr lang="en-US" sz="10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+ Redis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1161288" y="356616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dashboard updates; cache &amp; session backbone</a:t>
            </a:r>
            <a:endParaRPr lang="en-US" sz="960" dirty="0"/>
          </a:p>
        </p:txBody>
      </p:sp>
      <p:sp>
        <p:nvSpPr>
          <p:cNvPr id="29" name="Shape 22"/>
          <p:cNvSpPr/>
          <p:nvPr/>
        </p:nvSpPr>
        <p:spPr>
          <a:xfrm>
            <a:off x="4663440" y="3200400"/>
            <a:ext cx="3977640" cy="822960"/>
          </a:xfrm>
          <a:prstGeom prst="roundRect">
            <a:avLst>
              <a:gd name="adj" fmla="val 6667"/>
            </a:avLst>
          </a:prstGeom>
          <a:solidFill>
            <a:srgbClr val="EEF3FB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791456" y="3401568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8017" y="3498129"/>
            <a:ext cx="209215" cy="20921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321808" y="3310128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  </a:t>
            </a:r>
            <a:pPr indent="0" marL="0">
              <a:buNone/>
            </a:pPr>
            <a:r>
              <a:rPr lang="en-US" sz="10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x-api-key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5321808" y="356616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viewing; registered keys for every data source</a:t>
            </a:r>
            <a:endParaRPr lang="en-US" sz="960" dirty="0"/>
          </a:p>
        </p:txBody>
      </p:sp>
      <p:sp>
        <p:nvSpPr>
          <p:cNvPr id="34" name="Shape 26"/>
          <p:cNvSpPr/>
          <p:nvPr/>
        </p:nvSpPr>
        <p:spPr>
          <a:xfrm>
            <a:off x="502920" y="4151376"/>
            <a:ext cx="3977640" cy="822960"/>
          </a:xfrm>
          <a:prstGeom prst="roundRect">
            <a:avLst>
              <a:gd name="adj" fmla="val 6667"/>
            </a:avLst>
          </a:prstGeom>
          <a:solidFill>
            <a:srgbClr val="EEF3FB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30936" y="4352544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7497" y="4449105"/>
            <a:ext cx="209215" cy="209215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161288" y="4261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integration   </a:t>
            </a:r>
            <a:pPr indent="0" marL="0">
              <a:buNone/>
            </a:pPr>
            <a:r>
              <a:rPr lang="en-US" sz="10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our spec + OData</a:t>
            </a:r>
            <a:endParaRPr lang="en-US" sz="1150" dirty="0"/>
          </a:p>
        </p:txBody>
      </p:sp>
      <p:sp>
        <p:nvSpPr>
          <p:cNvPr id="38" name="Text 29"/>
          <p:cNvSpPr/>
          <p:nvPr/>
        </p:nvSpPr>
        <p:spPr>
          <a:xfrm>
            <a:off x="1161288" y="4517136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maps to our format; material master synced from S/4HANA</a:t>
            </a:r>
            <a:endParaRPr lang="en-US" sz="960" dirty="0"/>
          </a:p>
        </p:txBody>
      </p:sp>
      <p:sp>
        <p:nvSpPr>
          <p:cNvPr id="39" name="Shape 30"/>
          <p:cNvSpPr/>
          <p:nvPr/>
        </p:nvSpPr>
        <p:spPr>
          <a:xfrm>
            <a:off x="4663440" y="4151376"/>
            <a:ext cx="3977640" cy="822960"/>
          </a:xfrm>
          <a:prstGeom prst="roundRect">
            <a:avLst>
              <a:gd name="adj" fmla="val 6667"/>
            </a:avLst>
          </a:prstGeom>
          <a:solidFill>
            <a:srgbClr val="EEF3FB"/>
          </a:solidFill>
          <a:ln/>
          <a:effectLst>
            <a:outerShdw sx="100000" sy="100000" kx="0" ky="0" algn="bl" rotWithShape="0" blurRad="88900" dist="25400" dir="2700000">
              <a:srgbClr val="1E2761">
                <a:alpha val="14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4791456" y="4352544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88017" y="4449105"/>
            <a:ext cx="209215" cy="209215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5321808" y="426110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  </a:t>
            </a:r>
            <a:pPr indent="0" marL="0">
              <a:buNone/>
            </a:pPr>
            <a:r>
              <a:rPr lang="en-US" sz="10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Minda infra</a:t>
            </a:r>
            <a:endParaRPr lang="en-US" sz="1150" dirty="0"/>
          </a:p>
        </p:txBody>
      </p:sp>
      <p:sp>
        <p:nvSpPr>
          <p:cNvPr id="43" name="Text 33"/>
          <p:cNvSpPr/>
          <p:nvPr/>
        </p:nvSpPr>
        <p:spPr>
          <a:xfrm>
            <a:off x="5321808" y="4517136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additive module on digitisationapi.jpmgroup.co.in · PM2</a:t>
            </a:r>
            <a:endParaRPr lang="en-US" sz="9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GOVERNANCE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Locked down, auditable, zero-regression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35024"/>
            <a:ext cx="420624" cy="420624"/>
          </a:xfrm>
          <a:prstGeom prst="ellipse">
            <a:avLst/>
          </a:prstGeom>
          <a:solidFill>
            <a:srgbClr val="EEF3F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870" y="1435974"/>
            <a:ext cx="218724" cy="2187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15568" y="13258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API keys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069080" y="1335024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pushing system gets its own key — stored hashed, revocable per source, no shared secrets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2048256"/>
            <a:ext cx="420624" cy="420624"/>
          </a:xfrm>
          <a:prstGeom prst="ellipse">
            <a:avLst/>
          </a:prstGeom>
          <a:solidFill>
            <a:srgbClr val="EEF3F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870" y="2149206"/>
            <a:ext cx="218724" cy="2187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15568" y="203911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dashboards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4069080" y="2048256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viewing sits behind the existing Minda login (JWT) and role permissions — same accounts, same RBAC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02920" y="2761488"/>
            <a:ext cx="420624" cy="420624"/>
          </a:xfrm>
          <a:prstGeom prst="ellipse">
            <a:avLst/>
          </a:prstGeom>
          <a:solidFill>
            <a:srgbClr val="EEF3F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870" y="2862438"/>
            <a:ext cx="218724" cy="2187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15568" y="275234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raw audit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4069080" y="276148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inbound payload is archived verbatim with source &amp; timestamp — a tamper-evident record of what was sent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502920" y="3474720"/>
            <a:ext cx="420624" cy="420624"/>
          </a:xfrm>
          <a:prstGeom prst="ellipse">
            <a:avLst/>
          </a:prstGeom>
          <a:solidFill>
            <a:srgbClr val="EEF3FB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870" y="3575670"/>
            <a:ext cx="218724" cy="21872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15568" y="34655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Additive by design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4069080" y="347472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new cng_* tables; no foreign keys into and no changes to existing Minda tables — the platform you run today is untouched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502920" y="4187952"/>
            <a:ext cx="420624" cy="420624"/>
          </a:xfrm>
          <a:prstGeom prst="ellipse">
            <a:avLst/>
          </a:prstGeom>
          <a:solidFill>
            <a:srgbClr val="EEF3FB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870" y="4288902"/>
            <a:ext cx="218724" cy="21872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115568" y="417880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end-to-end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4069080" y="418795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traffic rides the hosted TLS domain; dev, test and production environments fully isolated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Built, proven on live pushes — ready to scale to the line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517904"/>
            <a:ext cx="3840480" cy="2798064"/>
          </a:xfrm>
          <a:prstGeom prst="roundRect">
            <a:avLst>
              <a:gd name="adj" fmla="val 2614"/>
            </a:avLst>
          </a:prstGeom>
          <a:solidFill>
            <a:srgbClr val="2A3A7D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66420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7FE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&amp; VERIFIED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41248" y="1956816"/>
            <a:ext cx="343814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D8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APIs live — machine &amp; SAP pushes verified end-to-end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D8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+ single message formats, dividing into machine / cylinder / defect data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D8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dashboard screens on real data, with live gauges &amp; filters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D8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16-machine demo line streaming (12 via SAP format + EKC/JCI patterns)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D8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integration spec shared for SAP field mapping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63440" y="1517904"/>
            <a:ext cx="3840480" cy="2798064"/>
          </a:xfrm>
          <a:prstGeom prst="roundRect">
            <a:avLst>
              <a:gd name="adj" fmla="val 2614"/>
            </a:avLst>
          </a:prstGeom>
          <a:solidFill>
            <a:srgbClr val="2A3A7D"/>
          </a:solidFill>
          <a:ln/>
        </p:spPr>
      </p:sp>
      <p:sp>
        <p:nvSpPr>
          <p:cNvPr id="8" name="Text 6"/>
          <p:cNvSpPr/>
          <p:nvPr/>
        </p:nvSpPr>
        <p:spPr>
          <a:xfrm>
            <a:off x="4864608" y="1664208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— TO GO LIVE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64608" y="1956816"/>
            <a:ext cx="343814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D8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team maps live fields to the published format (sample + key already shared)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D8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API keys issued per source system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D8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scan-in station at Pipe Cutting (stage 1)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D8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limit sign-off with quality team (min–max per parameter)</a:t>
            </a:r>
            <a:endParaRPr lang="en-US" sz="10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D8E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line by line, monitored against the raw archive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45720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Deepnap Softech</a:t>
            </a:r>
            <a:pPr indent="0" marL="0">
              <a:buNone/>
            </a:pPr>
            <a:r>
              <a:rPr lang="en-US" sz="1100" dirty="0">
                <a:solidFill>
                  <a:srgbClr val="7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deepnapsoftech@gmail.com   ·   CNG Cylinder Process Tracking for JP Minda Group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CNG Cylinder Process Tracking — Workflow Implementation Report</dc:title>
  <dc:subject>PptxGenJS Presentation</dc:subject>
  <dc:creator>Deepnap Softech</dc:creator>
  <cp:lastModifiedBy>Deepnap Softech</cp:lastModifiedBy>
  <cp:revision>1</cp:revision>
  <dcterms:created xsi:type="dcterms:W3CDTF">2026-07-04T05:49:30Z</dcterms:created>
  <dcterms:modified xsi:type="dcterms:W3CDTF">2026-07-04T05:49:30Z</dcterms:modified>
</cp:coreProperties>
</file>